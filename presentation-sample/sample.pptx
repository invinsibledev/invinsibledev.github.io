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8636C"/>
                </a:solidFill>
                <a:latin typeface="Liberation Sans"/>
              </a:defRPr>
            </a:pPr>
            <a:r>
              <a:t>STAŻ PSYCHOTERAPEUTYCZNY  /  KONCEPCJA OFERTY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18504"/>
            <a:ext cx="11000232" cy="10972"/>
          </a:xfrm>
          <a:prstGeom prst="rect">
            <a:avLst/>
          </a:prstGeom>
          <a:solidFill>
            <a:srgbClr val="D9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8636C"/>
                </a:solidFill>
                <a:latin typeface="Liberation Sans"/>
              </a:defRPr>
            </a:pPr>
            <a:r>
              <a:t>Próbka niezależna • Oleksii Marchenko • treść na podstawie stazterapeutyczny.online, 07.10.2026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636C"/>
                </a:solidFill>
                <a:latin typeface="Liberation Sans"/>
              </a:defRPr>
            </a:pPr>
            <a:r>
              <a:t>01 /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051560"/>
            <a:ext cx="3904487" cy="4800600"/>
          </a:xfrm>
          <a:prstGeom prst="rect">
            <a:avLst/>
          </a:prstGeom>
          <a:solidFill>
            <a:srgbClr val="EE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75320" y="1508760"/>
            <a:ext cx="2377440" cy="2377440"/>
          </a:xfrm>
          <a:prstGeom prst="ellipse">
            <a:avLst/>
          </a:prstGeom>
          <a:solidFill>
            <a:srgbClr val="873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89720" y="2880360"/>
            <a:ext cx="1920240" cy="1920240"/>
          </a:xfrm>
          <a:prstGeom prst="ellipse">
            <a:avLst/>
          </a:prstGeom>
          <a:solidFill>
            <a:srgbClr val="BC9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92440" y="4023360"/>
            <a:ext cx="1188720" cy="1188720"/>
          </a:xfrm>
          <a:prstGeom prst="ellipse">
            <a:avLst/>
          </a:prstGeom>
          <a:solidFill>
            <a:srgbClr val="E6DF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2194560"/>
            <a:ext cx="1005840" cy="1005840"/>
          </a:xfrm>
          <a:prstGeom prst="ellipse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542239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739D1"/>
                </a:solidFill>
                <a:latin typeface="Liberation Sans"/>
              </a:defRPr>
            </a:pPr>
            <a:r>
              <a:t>OBSERWACJA  /  PRAKTYKA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2588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739D1"/>
                </a:solidFill>
                <a:latin typeface="Liberation Sans"/>
              </a:defRPr>
            </a:pPr>
            <a:r>
              <a:t>PROGRAM 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19"/>
            <a:ext cx="685800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800" b="0">
                <a:solidFill>
                  <a:srgbClr val="292735"/>
                </a:solidFill>
                <a:latin typeface="Liberation Serif"/>
              </a:defRPr>
            </a:pPr>
            <a:r>
              <a:t>Praktyka</a:t>
            </a:r>
          </a:p>
          <a:p>
            <a:pPr>
              <a:spcAft>
                <a:spcPts val="800"/>
              </a:spcAft>
              <a:defRPr sz="3800" b="0">
                <a:solidFill>
                  <a:srgbClr val="292735"/>
                </a:solidFill>
                <a:latin typeface="Liberation Serif"/>
              </a:defRPr>
            </a:pPr>
            <a:r>
              <a:t>z przestrzenią</a:t>
            </a:r>
          </a:p>
          <a:p>
            <a:pPr>
              <a:spcAft>
                <a:spcPts val="800"/>
              </a:spcAft>
              <a:defRPr sz="3800" b="0">
                <a:solidFill>
                  <a:srgbClr val="292735"/>
                </a:solidFill>
                <a:latin typeface="Liberation Serif"/>
              </a:defRPr>
            </a:pPr>
            <a:r>
              <a:t>na refleksję.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6492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68636C"/>
                </a:solidFill>
                <a:latin typeface="Liberation Sans"/>
              </a:defRPr>
            </a:pPr>
            <a:r>
              <a:t>Staż dla osób rozwijających kompetencje</a:t>
            </a:r>
          </a:p>
          <a:p>
            <a:pPr>
              <a:spcAft>
                <a:spcPts val="800"/>
              </a:spcAft>
              <a:defRPr sz="2100" b="0">
                <a:solidFill>
                  <a:srgbClr val="68636C"/>
                </a:solidFill>
                <a:latin typeface="Liberation Sans"/>
              </a:defRPr>
            </a:pPr>
            <a:r>
              <a:t>psychoterapeutyczne. Sesje z pacjentami,</a:t>
            </a:r>
          </a:p>
          <a:p>
            <a:pPr>
              <a:spcAft>
                <a:spcPts val="800"/>
              </a:spcAft>
              <a:defRPr sz="2100" b="0">
                <a:solidFill>
                  <a:srgbClr val="68636C"/>
                </a:solidFill>
                <a:latin typeface="Liberation Sans"/>
              </a:defRPr>
            </a:pPr>
            <a:r>
              <a:t>wsparcie specjalisty i materiały do pracy.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486400"/>
            <a:ext cx="6126480" cy="457200"/>
          </a:xfrm>
          <a:prstGeom prst="rect">
            <a:avLst/>
          </a:prstGeom>
          <a:solidFill>
            <a:srgbClr val="8739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596128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Dwie edycje: obserwacyjna i prowadzeniowa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8636C"/>
                </a:solidFill>
                <a:latin typeface="Liberation Sans"/>
              </a:defRPr>
            </a:pPr>
            <a:r>
              <a:t>STAŻ PSYCHOTERAPEUTYCZNY  /  KONCEPCJA OFERTY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6318504"/>
            <a:ext cx="11000232" cy="10972"/>
          </a:xfrm>
          <a:prstGeom prst="rect">
            <a:avLst/>
          </a:prstGeom>
          <a:solidFill>
            <a:srgbClr val="D9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8636C"/>
                </a:solidFill>
                <a:latin typeface="Liberation Sans"/>
              </a:defRPr>
            </a:pPr>
            <a:r>
              <a:t>Próbka niezależna • Oleksii Marchenko • treść na podstawie stazterapeutyczny.online, 07.10.2026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64808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68636C"/>
                </a:solidFill>
                <a:latin typeface="Liberation Sans"/>
              </a:defRPr>
            </a:pPr>
            <a:r>
              <a:t>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41832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0">
                <a:solidFill>
                  <a:srgbClr val="292735"/>
                </a:solidFill>
                <a:latin typeface="Liberation Serif"/>
              </a:defRPr>
            </a:pPr>
            <a:r>
              <a:t>Dwie edycje. Różne role w sesji.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68636C"/>
                </a:solidFill>
                <a:latin typeface="Liberation Sans"/>
              </a:defRPr>
            </a:pPr>
            <a:r>
              <a:t>Wybierz formę udziału dopasowaną do etapu rozwoju zawodowego.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06040"/>
            <a:ext cx="5367528" cy="2450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8529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739D1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7063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0">
                <a:solidFill>
                  <a:srgbClr val="292735"/>
                </a:solidFill>
                <a:latin typeface="Liberation Serif"/>
              </a:defRPr>
            </a:pPr>
            <a:r>
              <a:t>Obserwacyjna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93008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739D1"/>
                </a:solidFill>
                <a:latin typeface="Liberation Sans"/>
              </a:defRPr>
            </a:pPr>
            <a:r>
              <a:t>START: LUTY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32504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636C"/>
                </a:solidFill>
                <a:latin typeface="Liberation Sans"/>
              </a:defRPr>
            </a:pPr>
            <a:r>
              <a:t>Obserwujesz sesje prowadzone</a:t>
            </a:r>
          </a:p>
          <a:p>
            <a:pPr>
              <a:spcAft>
                <a:spcPts val="800"/>
              </a:spcAft>
              <a:defRPr sz="1800" b="0">
                <a:solidFill>
                  <a:srgbClr val="68636C"/>
                </a:solidFill>
                <a:latin typeface="Liberation Sans"/>
              </a:defRPr>
            </a:pPr>
            <a:r>
              <a:t>przez doświadczonego psychoterapeutę.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06040"/>
            <a:ext cx="5367528" cy="2450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85292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8739D1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70632"/>
            <a:ext cx="4251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0">
                <a:solidFill>
                  <a:srgbClr val="292735"/>
                </a:solidFill>
                <a:latin typeface="Liberation Serif"/>
              </a:defRPr>
            </a:pPr>
            <a:r>
              <a:t>Prowadzeniowa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93008"/>
            <a:ext cx="4709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739D1"/>
                </a:solidFill>
                <a:latin typeface="Liberation Sans"/>
              </a:defRPr>
            </a:pPr>
            <a:r>
              <a:t>START: MARZEC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32504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68636C"/>
                </a:solidFill>
                <a:latin typeface="Liberation Sans"/>
              </a:defRPr>
            </a:pPr>
            <a:r>
              <a:t>Prowadzisz sesje pod opieką</a:t>
            </a:r>
          </a:p>
          <a:p>
            <a:pPr>
              <a:spcAft>
                <a:spcPts val="800"/>
              </a:spcAft>
              <a:defRPr sz="1800" b="0">
                <a:solidFill>
                  <a:srgbClr val="68636C"/>
                </a:solidFill>
                <a:latin typeface="Liberation Sans"/>
              </a:defRPr>
            </a:pPr>
            <a:r>
              <a:t>i superwizją psychoterapeuty.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12664"/>
            <a:ext cx="10991088" cy="694944"/>
          </a:xfrm>
          <a:prstGeom prst="rect">
            <a:avLst/>
          </a:prstGeom>
          <a:solidFill>
            <a:srgbClr val="EE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229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8739D1"/>
                </a:solidFill>
                <a:latin typeface="Liberation Sans"/>
              </a:defRPr>
            </a:pPr>
            <a:r>
              <a:t>Uzupełnienie programu: mentoring i materiały do pracy z pacjentami.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Staż psychoterapeutyczny — niezależna próbka koncepcji</dc:title>
  <dc:subject>Próbka ofertowa, nie oficjalny materiał organizatora</dc:subject>
  <dc:creator>Oleksii Marchenko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